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46304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on the Recent Advances 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Subset Selection Problems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Large Language Models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10 Papers from ICLR 2025 and Related Venues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subset selection matters for LLMs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0020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of Approaches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Categorizing 10 recent papers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Pre-training Data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PDS, QUAD, TrackStar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Fine-tuning Selection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DELIFT, ADAPT-INF, KMQ, ROSE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4612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Coreset &amp; Task-Specific Selection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LENS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9476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 &amp; Themes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patterns and insights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343400"/>
            <a:ext cx="64008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Challenges &amp; Conclusion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Why Subset Selection?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training requires massive datasets (trillions of tokens)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data contributes equally to model performance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or low-quality data wastes compute resources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costs scale linearly with dataset size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selection can match full-data performance with a fraction of samples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of Subset Selection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Select samples most useful for learning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Diversity: Cover the full data distribution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Minimize computational overhead of selection itself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Handle billions of training examples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Alignment: Match selection to downstream objectives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of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Pre-training Data Selection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subsets from large corpora for pre-training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188720"/>
            <a:ext cx="2103120" cy="38404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(Apple)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103120" cy="38404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(Tsinghua/Microsoft)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645920"/>
            <a:ext cx="2103120" cy="38404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(Beijing IT/SenseTime)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103120" cy="38404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TrackStar (Google DeepMind)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31720"/>
            <a:ext cx="73152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Fine-tuning Selection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instruction data for fine-tuning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2468880"/>
            <a:ext cx="2103120" cy="38404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DELIFT (UIUC/IBM)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2103120" cy="38404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ADAPT-INF (UNC Chapel Hill)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2926080"/>
            <a:ext cx="2103120" cy="38404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KMQ (Anonymous)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2103120" cy="384048"/>
          </a:xfrm>
          <a:prstGeom prst="rect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(Anonymous)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1188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Coreset &amp; Task-Specific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task-specific coresets or ICL examples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749040"/>
            <a:ext cx="210312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(Xi'an Jiaotong/NTU)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749040"/>
            <a:ext cx="2103120" cy="38404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(Fudan University)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ADAPT-INF: Scalable Continual Multimodal Instruction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UNC Chapel Hill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gradients, run K-means clustering, then select the most informative samples (entropy) from each cluster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gradient vectors from model layers for each sample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pseudo-task clustering using K-means on gradients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scoring function experts to evaluate sample importance per cluster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balanced subset using entropy-based CCS sampling strategy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prune semantically redundant samples via cosine similarity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lifelong instruction tuning across sequential datasets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maximization within pseudo-task clusters ensures diverse, informative sample selection under budget constraints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1.5, TinyLLaVA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LLaVA-1.5, M3IT, MiniGPT4, MANTIS, LAMM, VisionFLAN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ADAPT-INF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Experience Replay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 (Perplexity, EL2N)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SemDeDup, Density-based Pruning, COINCIDE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baselines on continual learning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skill retention across sequential datasets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with LITE variant for reduced pool sizes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 across diverse visual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clustering effectively identifies pseudo-tasks in multimodal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selection within clusters prevents collapse to easy or hard examples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mechanism controls data pool growth for scalable lifelong learning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CRISP: Clustered Importance Sampling for Pre-training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Apple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data, then sample weighted by ratio of specialist to generalist dataset distributions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SBERT embeddings for each token window from generalist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generalist dataset using hierarchical clustering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 histogram for specialist dataset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importance weights: w(c) = P(c|D_s) / P(c|D_g)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clusters from generalist data proportional to importance weights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pre-training the language model on sampled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sampling reweights clusters so training distribution matches the specialist domain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 to 7B LLMs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RedPj2, PubMed, StackExchange, Wikipedia, ARC, MMLU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generalist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pretraining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DoGE method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difference (CED)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improvements over baselines across model scales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both language modeling and MCQ tasks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from 350M to 7B 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multi-task transfer learning scenarios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sampling via clustering is a lightweight alternative to per-sample scoring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SBERT-based clustering captures topical similarity effectively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specialist-to-generalist ratio provides an intuitive and effective weighting scheme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DELIFT: Data Efficient Language Model Instruction Fine-Tuning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UIUC + IBM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pairwise utility of 1-shot examples, then use submodular subset selection to pick the best 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pairwise utility metric U_F_ij for all data pairs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measures advantage of in-context example (x_j, y_j) for predicting y_i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kernel matrix from non-negative utilities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submodular optimization: Facility Location (FL), FLMI, or FLCG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selects subset A maximizing the submodular objective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 on selected subset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Submodular functions provide near-optimal subset selection with theoretical guarantees (1-1/e approximation)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Llama-3.2-3B, Mistral-7B, Qwen2-72B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Mix-Instruct, P3, HotpotQA, MMLU, MT-Bench, GSM-8k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DELIFT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SelectIT, LESS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DEFT-UCS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near full-data performance with 30% of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random and other selection baselines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across instruction tuning and task-specific stages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both QLoRA and full fine-tuning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utility from ICL naturally captures data complementarity and redundancy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submodular objectives suit different fine-tuning stages (general vs task-specific)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between utility metric and pointwise mutual information provides theoretical grounding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KMQ: Diversify and Conquer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Under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for diversity, perplexity ratio of generated to gold responses as quality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budget b and divide into N iterations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data using K-means for diversity coverage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clusters weighted by quality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 on selected subset for one epoch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quality: S = -log(PPL(x+y_gen) / PPL(x+y_gold))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cluster weights based on quality scores and iterate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adjusts cluster weights to progressively focus on difficult/valuable clusters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Llama-2-7B, Llama-3-8B, Mistral-7B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Alpaca, WizardLM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KMQ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Deita, QDIT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k-Center, kM-Closest, kM-Random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static selection methods on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improves over single-pass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well across different base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on both Alpaca and WizardLM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diversity (K-means) with quality (perplexity ratio) is more effective than either alone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resampling adapts to model's evolving capabilities during 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ratio provides a training-free quality signal that correlates with sample difficulty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LENS: Finding Support Examples for In-Context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Fudan University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 advantage for quality and cosine similarity for diversity in ICL example selection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InfoScore for each candidate example: measures prediction improvement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InfoScore I(e, D) = sum of contribution gaps c(e, e') across dataset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filtering: iteratively remove uninformative examples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diverse permutations of filtered candidates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Diversity-guided search balances informativeness and cosine similarity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top-performing permutations as final support examples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filter-then-search balances computational efficiency with selection quality for ICL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(GPT2-L)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SST-2, SST-5, Amazon, MR, Subj, TREC, AGNews, DBPedia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Random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Herding, K-Center Greedy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CRAIG, GradMatch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Location, Graph Cut, Glister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gains across 8 classification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examples transfer across different LMs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permutation order of examples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filtering reduces computational cost significantly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 example selection is fundamentally different from coreset selection for 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Informativeness (model feedback) combined with diversity yields best ICL performance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O(N log N) makes the approach practical for moderate-scale datasets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PDS: Data Selection via Optimal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Tsinghua + Microsoft + Peking University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data selection as an optimal control problem; solve via Pontryagin's Maximum Principle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loss: L(theta, gamma) = sum gamma_n * l(x_n, theta)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selection as: min_gamma sum J(theta_t) s.t. gradient descent dynamics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PMP: compute co-state vectors lambda via backward pass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gamma based on gradient alignment with co-state vectors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data scorer model on proxy-computed quality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Gumbel-Top-K sampling to select data for target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control theory provides principled framework connecting data weights to downstream task 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LIMA-scale models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CommonCrawl, LIMA, DCLM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PDS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Pre-Training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RHO-Loss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downstream task performance with selected subsets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reduction while maintaining 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model sizes via proxy model approach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provides convergence guarantees for score optimization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control theory offers a mathematically principled approach to data selection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model strategy makes the method practical for large-scale pre-training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Co-state vectors capture long-horizon training dynamics beyond single-step influence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QUAD: Quality and Diversity for Data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Beijing IT + SenseTime + Shanghai AI Lab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for diversity, gradient similarity with validation set for quality via influence functions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candidate pool D_c into groups using K-means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influence function: I(D_r, z) = -grad L(theta, D_r) * (H+lambda I)^{-1} * grad L(theta, z)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 (UCB) for cluster selection: CS_i = I_bar_i + alpha * sqrt(...)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top-K clusters, sample data within each cluster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selection: add data above influence threshold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Kronecker product approximation for efficient Hessian computation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UCB-based MAB framework naturally balances exploration (diversity) and exploitation (quality)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LLaMA-3.1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SlimPajama, FineWeb, LAMBADA, Openwebmath, FLAN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DSIR, PPL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baselines on multiple pre-training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exploration improves over pure top-k cluster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Hessian approximation via Kronecker product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different clustering configurations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functions adapted with Kronecker factorization scale to LLM pre-training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 framework provides a principled way to balance quality and diversity without tuning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Submodularity of the influence function ensures near-optimal greedy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ROSE: Reward-Oriented Data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Under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much validation reward improves from a gradient step on each sample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model with 5% random subset of training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validation set into preference pairs (winning/losing responses)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on training data (Adam) and validation preferences (SGD)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influence scores via gradient inner product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5% of data points with highest influence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 model on selected high-influence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Reward-based influence estimation aligns data selection with human preference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Llama-2-7B/13B, Llama-3.1-8B, Mistral-7B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DOLLY, Open Assistant, FLAN V2, COT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BM25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Representation-based data selection (RDS)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DSIR, Influence Functions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LESS, Shapley values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all baselines on preference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validation loss and test win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only 5% of training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across model families and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Preference-based objectives better align selection with actual deployment goals (human preferences)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DPO-style loss provides a differentiable proxy for reward-based selection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surprisingly effective with very small selection budgets (5%)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STAFF: Speculative Coreset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Xi'an Jiaotong + NTU + UMass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small proxy model to speculate importance scores, then verify on the target LLM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small model theta_s on full dataset 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speculative scores: S_d^s = ||grad L(theta_s(d))||_2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dataset into K regions based on speculative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region on target LLM theta_t with a small budget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verification ratio: V_i = sum(S_d^t) / sum(S_d^s) per region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selection budget based on verification scores, compile final coreset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execution paradigm: cheap proxy estimates guide expensive target model verification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Gemma-7b, Llama-2-13b, Mistral-Nemo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BioInstruct, DialogSum, WMT-19 (Kazakh-English)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GraNd, EL2N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Pruning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baselines across pruning rates (20-80%)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diverse tasks: QA, summarization, translation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speedup over full target-model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choice of small model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execution from systems research transfers effectively to data selection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Region-based verification amortizes the cost of target model evaluation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small-to-large model score correlation is strong enough for practical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TrackStar: Scalable Influence and Fact Tracing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| Google DeepMind + UC San Diego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4A6CF7">
              <a:alpha val="10000"/>
            </a:srgbClr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down-projected, Hessian-corrected gradients as influence/quality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gradients for training and query examples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optimizer state correction: divide by sqrt(V) (second moment)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gradients to lower dimension via random projection matrix P_d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Hessian correction: R^{-1/2} with mixed train/eval Hessian approximation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Unit-normalize corrected gradients to reduce outlier influence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score: I(z_m, z_q) = G_bar(z_m) . G_bar(z_q)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gradient preprocessing (correction + projection + normalization) enables scalable influence at 8B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154M, 1B, 8B parameter LMs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C4, T-REx, KILT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TrackStar - Results &amp;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Gecko embeddings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Ablated TrackStar variants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fact tracing on T-REx and C4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8B parameters and 160B token corpora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pre-filtering or subsampling required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tail-patch influence metric results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gradient-based influence is feasible at LLM scale with proper engineering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preprocessing step (correction, projection, normalization) contributes meaningfully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tracing has direct applications for data attribution and selection in pre-training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2011680"/>
                <a:gridCol w="201168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ADAPT-INF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scoring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sampling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clusters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sampling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 utility (ICL)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Submodular 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submodular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KMQ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resampling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InfoScore (PPL gap)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Filter-then-search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(Gumbel)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control (PMP)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+ MAB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UCB exploration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influence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inner prod.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Region-based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Hessian-corrected grad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 ranking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Themes Across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8288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for Diversity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(ADAPT-INF, KMQ, QUAD), hierarchical clustering (CRISP), region-based division (STAFF). Nearly all methods use some form of clustering.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8288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Gradient/Influence-Based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norms (STAFF), gradient alignment (PDS, ROSE), influence functions (QUAD, TrackStar), perplexity-based scores (CRISP, KMQ, LENS).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64008" cy="18288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Submodular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DELIFT explicitly uses submodular functions (FL, FLMI, FLCG). QUAD proves submodularity of influence. Greedy algorithms provide 1-1/e guarantees.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64008" cy="18288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Models for Efficiency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uses small model to speculate scores. PDS trains proxy for co-state computation. TrackStar uses random projection for dimensionality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Challenges &amp; 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methods tested on millions of samples. Scaling to trillion-token corpora remains a major challenge. Proxy-based approaches (STAFF, PDS) show promise.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policies learned for one model may not transfer to another. Few works study cross-model or cross-task transferability systematically.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Guarantees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Submodularity-based methods (DELIFT, QUAD) offer approximation guarantees. Optimal control (PDS) provides convergence results. Most methods lack formal bounds.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Online/Streaming Selection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are largely offline (batch selection). Real-time selection for streaming pre-training data is an open problem.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Multi-Objective Selection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quality, diversity, safety, and fairness simultaneously. Most methods optimize at most two objectives.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0604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for Alignment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429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pioneers reward-oriented selection. Extending selection to RLHF, constitutional AI, and safety alignment remains underexplored.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73152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selection is a critical enabler for efficient LLM training at 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084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diversity are complementary objectives - the best methods address both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523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(K-means, hierarchical) is the dominant approach for ensuring diversity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9626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signals (influence functions, gradient norms/alignment) are the leading quality indicators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models and dimensionality reduction make selection scalable to large models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Submodular optimization and optimal control provide strong theoretical foundations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should address streaming selection, multi-objective optimization, and alignment-aware selection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ADAPT-INF: Scalable Continual Multimodal Instruction Tuning via Dynamic Data Selection. ICLR 2025.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CRISP: Task-Adaptive Pretrained Language Models via Clustered Importance Sampling. ICLR 2025.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DELIFT: Data Efficient Language Model Instruction Fine-Tuning. ICLR 2025.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KMQ: Diversify and Conquer - Diversity-Centric Data Selection with Iterative Refinement. ICLR 2025.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LENS: Finding Support Examples for In-Context Learning. Fudan University.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PDS: Data Selection via Optimal Control for Language Models. ICLR 2025.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QUAD: Harnessing Diversity for Important Data Selection in Pretraining LLMs. ICLR 2025.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941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ROSE: Reward-Oriented Data Selection for LLM Task-Specific Instruction Tuning. ICLR 2025.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STAFF: Speculative Coreset Selection for Task-Specific Fine-Tuning. ICLR 2025.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TrackStar: Scalable Influence and Fact Tracing for LLM Pretraining. ICLR 2025.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Review on the Recent Advances in Subset Selection Problems in Large Language Models</dc:title>
  <dc:subject>PptxGenJS Presentation</dc:subject>
  <dc:creator>Subset Selection Review</dc:creator>
  <cp:lastModifiedBy>Subset Selection Review</cp:lastModifiedBy>
  <cp:revision>1</cp:revision>
  <dcterms:created xsi:type="dcterms:W3CDTF">2026-03-12T03:07:04Z</dcterms:created>
  <dcterms:modified xsi:type="dcterms:W3CDTF">2026-03-12T03:07:04Z</dcterms:modified>
</cp:coreProperties>
</file>