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Raleway"/>
      <p:regular r:id="rId54"/>
      <p:bold r:id="rId55"/>
      <p:italic r:id="rId56"/>
      <p:boldItalic r:id="rId57"/>
    </p:embeddedFont>
    <p:embeddedFont>
      <p:font typeface="Lat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La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Lat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aleway-bold.fntdata"/><Relationship Id="rId10" Type="http://schemas.openxmlformats.org/officeDocument/2006/relationships/slide" Target="slides/slide5.xml"/><Relationship Id="rId54" Type="http://schemas.openxmlformats.org/officeDocument/2006/relationships/font" Target="fonts/Raleway-regular.fntdata"/><Relationship Id="rId13" Type="http://schemas.openxmlformats.org/officeDocument/2006/relationships/slide" Target="slides/slide8.xml"/><Relationship Id="rId57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56" Type="http://schemas.openxmlformats.org/officeDocument/2006/relationships/font" Target="fonts/Raleway-italic.fntdata"/><Relationship Id="rId15" Type="http://schemas.openxmlformats.org/officeDocument/2006/relationships/slide" Target="slides/slide10.xml"/><Relationship Id="rId59" Type="http://schemas.openxmlformats.org/officeDocument/2006/relationships/font" Target="fonts/Lato-bold.fntdata"/><Relationship Id="rId14" Type="http://schemas.openxmlformats.org/officeDocument/2006/relationships/slide" Target="slides/slide9.xml"/><Relationship Id="rId58" Type="http://schemas.openxmlformats.org/officeDocument/2006/relationships/font" Target="fonts/Lat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3407d12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3407d12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3407d128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3407d128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3407d128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3407d128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3407d128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3407d128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334ec1f7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334ec1f7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3407d128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3407d128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3407d128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3407d128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3407d128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3407d128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3407d1282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3407d128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3407d128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3407d128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ecee4968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ecee4968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ecee4968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ecee496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3407d1282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3407d1282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ecee4968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ecee4968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ecee4968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ecee4968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ecee4968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3ecee4968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ecee4968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ecee4968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ecee4968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ecee4968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3093a567e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3093a567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ecee4968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3ecee4968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ecee4968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ecee4968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ecee4968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3ecee4968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ecee4968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ecee4968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ecee4968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3ecee4968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ecee49685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3ecee49685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3ecee4968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3ecee4968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3407d128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33407d128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335babd8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335babd8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335babd89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335babd89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32e1c63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432e1c63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33407d128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33407d128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335babd89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335babd89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35babd89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335babd89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335babd89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335babd89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35babd89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335babd89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356f30884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356f30884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335babd89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335babd89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335babd89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335babd89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57b10956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357b10956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335babd89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335babd89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335babd89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335babd89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335babd89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335babd89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335babd89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335babd89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335babd89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335babd89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335babd89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335babd89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335babd89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335babd89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335babd89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335babd89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Qualifying Exam:</a:t>
            </a:r>
            <a:endParaRPr sz="3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A review on the recent advances in subset selection problems in Large Language Models</a:t>
            </a:r>
            <a:endParaRPr sz="302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Souradeep Nanda (SXN230039)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00" y="1595776"/>
            <a:ext cx="6321600" cy="5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Context Learning (ICL)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410100" y="2307751"/>
            <a:ext cx="6321600" cy="52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Retrieval Augmented Generation (RAG)</a:t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2410100" y="3131926"/>
            <a:ext cx="6321600" cy="52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Subset Selection in LLMs with RAG and ICL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What is In-Context Learning for LLMs?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Context: </a:t>
            </a:r>
            <a:r>
              <a:rPr lang="en">
                <a:solidFill>
                  <a:schemeClr val="accent1"/>
                </a:solidFill>
              </a:rPr>
              <a:t>Jack</a:t>
            </a:r>
            <a:r>
              <a:rPr lang="en"/>
              <a:t> has an </a:t>
            </a:r>
            <a:r>
              <a:rPr lang="en">
                <a:solidFill>
                  <a:srgbClr val="FF0000"/>
                </a:solidFill>
              </a:rPr>
              <a:t>apple</a:t>
            </a:r>
            <a:r>
              <a:rPr lang="en"/>
              <a:t>. </a:t>
            </a:r>
            <a:r>
              <a:rPr lang="en">
                <a:solidFill>
                  <a:schemeClr val="accent4"/>
                </a:solidFill>
              </a:rPr>
              <a:t>Jill</a:t>
            </a:r>
            <a:r>
              <a:rPr lang="en"/>
              <a:t> has a </a:t>
            </a:r>
            <a:r>
              <a:rPr lang="en">
                <a:solidFill>
                  <a:schemeClr val="accent3"/>
                </a:solidFill>
              </a:rPr>
              <a:t>ball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Question: What does </a:t>
            </a:r>
            <a:r>
              <a:rPr lang="en">
                <a:solidFill>
                  <a:schemeClr val="accent1"/>
                </a:solidFill>
              </a:rPr>
              <a:t>Jack</a:t>
            </a:r>
            <a:r>
              <a:rPr lang="en"/>
              <a:t> have?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Answer: </a:t>
            </a:r>
            <a:r>
              <a:rPr lang="en">
                <a:solidFill>
                  <a:srgbClr val="FF0000"/>
                </a:solidFill>
              </a:rPr>
              <a:t>apple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Larger Models Scale Better for ICL (1 / 2)</a:t>
            </a:r>
            <a:endParaRPr sz="2400"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577982" y="1561825"/>
            <a:ext cx="27471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Shot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English: I would like to visit Paris next summer.</a:t>
            </a:r>
            <a:br>
              <a:rPr lang="en"/>
            </a:br>
            <a:r>
              <a:rPr lang="en"/>
              <a:t>French: </a:t>
            </a:r>
            <a:r>
              <a:rPr lang="en">
                <a:solidFill>
                  <a:srgbClr val="FF0000"/>
                </a:solidFill>
              </a:rPr>
              <a:t>Je voudrais rendre l'avenir de Paris.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</a:rPr>
              <a:t>I would like to give back the future of Paris.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325082" y="1561825"/>
            <a:ext cx="27471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Shot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/>
              <a:t>English: We plan to visit Rome next month.</a:t>
            </a:r>
            <a:br>
              <a:rPr lang="en"/>
            </a:br>
            <a:r>
              <a:rPr lang="en"/>
              <a:t>French: Nous prévoyons de visiter Rome le mois prochain. </a:t>
            </a:r>
            <a:br>
              <a:rPr lang="en"/>
            </a:br>
            <a:r>
              <a:rPr lang="en"/>
              <a:t>English: I would like to visit Paris next summer.</a:t>
            </a:r>
            <a:br>
              <a:rPr lang="en"/>
            </a:br>
            <a:r>
              <a:rPr lang="en"/>
              <a:t>French: </a:t>
            </a:r>
            <a:r>
              <a:rPr lang="en">
                <a:solidFill>
                  <a:srgbClr val="FF0000"/>
                </a:solidFill>
              </a:rPr>
              <a:t>Je voudrais rendre à Paris le mois prochain.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FF"/>
                </a:solidFill>
              </a:rPr>
              <a:t>I would like to go to Paris next month.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6239232" y="1561825"/>
            <a:ext cx="27471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Shot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/>
              <a:t>English: We plan to visit Rome next month.</a:t>
            </a:r>
            <a:br>
              <a:rPr lang="en"/>
            </a:br>
            <a:r>
              <a:rPr lang="en"/>
              <a:t>French: Nous prévoyons de visiter Rome le mois prochain.</a:t>
            </a:r>
            <a:br>
              <a:rPr lang="en"/>
            </a:br>
            <a:r>
              <a:rPr lang="en"/>
              <a:t>English: Paris is beautiful in the summer.</a:t>
            </a:r>
            <a:br>
              <a:rPr lang="en"/>
            </a:br>
            <a:r>
              <a:rPr lang="en"/>
              <a:t>French: Paris est magnifique en été.</a:t>
            </a:r>
            <a:br>
              <a:rPr lang="en"/>
            </a:br>
            <a:r>
              <a:rPr lang="en"/>
              <a:t>English: I would like to visit Paris next summer.</a:t>
            </a:r>
            <a:br>
              <a:rPr lang="en"/>
            </a:br>
            <a:r>
              <a:rPr lang="en"/>
              <a:t>French: </a:t>
            </a:r>
            <a:r>
              <a:rPr lang="en">
                <a:solidFill>
                  <a:srgbClr val="FF0000"/>
                </a:solidFill>
              </a:rPr>
              <a:t>Je voudrais visiter Paris en été.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FF"/>
                </a:solidFill>
              </a:rPr>
              <a:t>I would like to visit Paris in summer.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549950" y="4767375"/>
            <a:ext cx="60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Chung et al (2024) Scaling Instruction-Finetuned Language Models (https://arxiv.org/pdf/2210.11416)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1250"/>
              <a:buFont typeface="Arial"/>
              <a:buNone/>
            </a:pPr>
            <a:r>
              <a:rPr lang="en" sz="2400"/>
              <a:t>Larger Models Scale Better for ICL (2 / 2)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7038" y="1336600"/>
            <a:ext cx="5808024" cy="331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2510500" y="4773400"/>
            <a:ext cx="628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Brown et al. (2020) Language Models are Few-Shot Learners (https://arxiv.org/pdf/2005.14165)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of thought ( 1 / 3)</a:t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613" y="1363750"/>
            <a:ext cx="6172876" cy="30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1081775" y="4699325"/>
            <a:ext cx="753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Wei et al. (2022b) Chain of Thought Prompting Elicits Reasoning in Large Language Models (https://arxiv.org/pdf/2201.11903)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CoT: Scaling ( 2 / 3)</a:t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1081775" y="4699325"/>
            <a:ext cx="753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Wei et al. (2022b) Chain of Thought Prompting Elicits Reasoning in Large Language Models (https://arxiv.org/pdf/2201.11903)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450" y="1362887"/>
            <a:ext cx="1755650" cy="31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775" y="1712850"/>
            <a:ext cx="3785850" cy="24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CoT: Self consistency</a:t>
            </a:r>
            <a:r>
              <a:rPr lang="en"/>
              <a:t> ( 3 / 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924" y="1173275"/>
            <a:ext cx="5678249" cy="34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931750" y="4804800"/>
            <a:ext cx="779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Wang et al. (2022a) Self-Consistency Improves Chain of Thought Reasoning in Language Models (https://arxiv.org/pdf/2203.11171)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ICL work?</a:t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931750" y="4804800"/>
            <a:ext cx="779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 et al. (2022) Rethinking the Role of Demonstrations: What Makes In-Context Learning Work (https://arxiv.org/pdf/2202.12837)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p21" title="Screenshot 2025-03-12 1838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875" y="1297050"/>
            <a:ext cx="4498338" cy="32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 title="Screenshot 2025-03-12 1838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925" y="1249625"/>
            <a:ext cx="3055601" cy="7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Screenshot 2025-03-12 18462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926" y="2346151"/>
            <a:ext cx="2913500" cy="11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Certain Compute Scale is Required</a:t>
            </a: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2400250" y="4804800"/>
            <a:ext cx="562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Wei et al. (2022a) Emergent Abilities of Large Language Models (https://arxiv.org/pdf/2206.07682)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475" y="1492675"/>
            <a:ext cx="5907151" cy="29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2410100" y="1595776"/>
            <a:ext cx="6321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Context Learning (ICL)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410100" y="2307751"/>
            <a:ext cx="6321600" cy="528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Retrieval Augmented Generation (RAG)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2410100" y="3131926"/>
            <a:ext cx="6321600" cy="52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Subset Selection in LLMs with RAG and ICL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Idea of RAG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421926" y="2186125"/>
            <a:ext cx="3228900" cy="21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Documents (Non-Parametric)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Jill has a </a:t>
            </a:r>
            <a:r>
              <a:rPr lang="en">
                <a:solidFill>
                  <a:srgbClr val="FF0000"/>
                </a:solidFill>
              </a:rPr>
              <a:t>Ball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Bob has a Banana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253925" y="1329713"/>
            <a:ext cx="35649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5102525" y="2087125"/>
            <a:ext cx="3564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Knowledge (Parametric)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Context: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Answer: </a:t>
            </a:r>
            <a:r>
              <a:rPr lang="en">
                <a:solidFill>
                  <a:schemeClr val="accent4"/>
                </a:solidFill>
              </a:rPr>
              <a:t>Apple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158" name="Google Shape;158;p24"/>
          <p:cNvCxnSpPr>
            <a:stCxn id="156" idx="2"/>
            <a:endCxn id="155" idx="0"/>
          </p:cNvCxnSpPr>
          <p:nvPr/>
        </p:nvCxnSpPr>
        <p:spPr>
          <a:xfrm>
            <a:off x="2036375" y="1831013"/>
            <a:ext cx="0" cy="35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" name="Google Shape;159;p24"/>
          <p:cNvCxnSpPr>
            <a:stCxn id="155" idx="3"/>
            <a:endCxn id="157" idx="1"/>
          </p:cNvCxnSpPr>
          <p:nvPr/>
        </p:nvCxnSpPr>
        <p:spPr>
          <a:xfrm>
            <a:off x="3650826" y="3240775"/>
            <a:ext cx="145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" name="Google Shape;160;p24"/>
          <p:cNvSpPr txBox="1"/>
          <p:nvPr/>
        </p:nvSpPr>
        <p:spPr>
          <a:xfrm>
            <a:off x="2246050" y="1777775"/>
            <a:ext cx="194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Information Retrieval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3562325" y="2436050"/>
            <a:ext cx="172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Incorporation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Idea of RAG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421926" y="2186125"/>
            <a:ext cx="3228900" cy="21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Documents (Non-Parametric)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Jill has a Ball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Bob has a Banana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253925" y="1329713"/>
            <a:ext cx="35649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5102525" y="2087125"/>
            <a:ext cx="3564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Knowledge (Parametric)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Context: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Answer: </a:t>
            </a:r>
            <a:r>
              <a:rPr lang="en">
                <a:solidFill>
                  <a:schemeClr val="accent4"/>
                </a:solidFill>
              </a:rPr>
              <a:t>Apple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170" name="Google Shape;170;p25"/>
          <p:cNvCxnSpPr>
            <a:stCxn id="168" idx="2"/>
            <a:endCxn id="167" idx="0"/>
          </p:cNvCxnSpPr>
          <p:nvPr/>
        </p:nvCxnSpPr>
        <p:spPr>
          <a:xfrm>
            <a:off x="2036375" y="1831013"/>
            <a:ext cx="0" cy="35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" name="Google Shape;171;p25"/>
          <p:cNvCxnSpPr>
            <a:stCxn id="167" idx="3"/>
            <a:endCxn id="169" idx="1"/>
          </p:cNvCxnSpPr>
          <p:nvPr/>
        </p:nvCxnSpPr>
        <p:spPr>
          <a:xfrm>
            <a:off x="3650826" y="3240775"/>
            <a:ext cx="145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2" name="Google Shape;172;p25"/>
          <p:cNvSpPr txBox="1"/>
          <p:nvPr/>
        </p:nvSpPr>
        <p:spPr>
          <a:xfrm>
            <a:off x="2246050" y="1777775"/>
            <a:ext cx="194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Information Retrieval</a:t>
            </a:r>
            <a:endParaRPr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3562325" y="2436050"/>
            <a:ext cx="172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Data Incorporation</a:t>
            </a:r>
            <a:endParaRPr sz="18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Information Retrieval Strategy: Maximum Inner Product (1 / 3)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1696400" y="4736975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Lewis et al. (2020) Retrieval-Augmented Generation for Knowledge-Intensive NLP Tasks (https://arxiv.org/pdf/2005.11401)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1075" y="3006300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281075" y="2412250"/>
            <a:ext cx="19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Jack has an Apple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369300" y="1950550"/>
            <a:ext cx="179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Jill has a Ball</a:t>
            </a:r>
            <a:endParaRPr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281075" y="3639950"/>
            <a:ext cx="23109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Jill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3667775" y="2488075"/>
            <a:ext cx="2086500" cy="11082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LLM </a:t>
            </a:r>
            <a:endParaRPr sz="30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Embedding</a:t>
            </a:r>
            <a:endParaRPr sz="30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5" name="Google Shape;185;p26"/>
          <p:cNvCxnSpPr>
            <a:stCxn id="182" idx="3"/>
          </p:cNvCxnSpPr>
          <p:nvPr/>
        </p:nvCxnSpPr>
        <p:spPr>
          <a:xfrm>
            <a:off x="2164500" y="2181400"/>
            <a:ext cx="1499700" cy="5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" name="Google Shape;186;p26"/>
          <p:cNvCxnSpPr>
            <a:stCxn id="181" idx="3"/>
          </p:cNvCxnSpPr>
          <p:nvPr/>
        </p:nvCxnSpPr>
        <p:spPr>
          <a:xfrm>
            <a:off x="2212175" y="2643100"/>
            <a:ext cx="1465500" cy="17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" name="Google Shape;187;p26"/>
          <p:cNvCxnSpPr>
            <a:stCxn id="180" idx="3"/>
            <a:endCxn id="184" idx="1"/>
          </p:cNvCxnSpPr>
          <p:nvPr/>
        </p:nvCxnSpPr>
        <p:spPr>
          <a:xfrm flipH="1" rot="10800000">
            <a:off x="2748275" y="3042150"/>
            <a:ext cx="919500" cy="21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8" name="Google Shape;188;p26"/>
          <p:cNvCxnSpPr>
            <a:stCxn id="183" idx="3"/>
          </p:cNvCxnSpPr>
          <p:nvPr/>
        </p:nvCxnSpPr>
        <p:spPr>
          <a:xfrm flipH="1" rot="10800000">
            <a:off x="2591975" y="3162200"/>
            <a:ext cx="1085700" cy="7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26"/>
          <p:cNvSpPr txBox="1"/>
          <p:nvPr/>
        </p:nvSpPr>
        <p:spPr>
          <a:xfrm>
            <a:off x="6480275" y="1950550"/>
            <a:ext cx="21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[0.34, 0.24, …, 0.27]</a:t>
            </a:r>
            <a:endParaRPr sz="1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6452600" y="2412238"/>
            <a:ext cx="21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[0.23, 0.33, …, 0.52]</a:t>
            </a:r>
            <a:endParaRPr sz="1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6452600" y="3045900"/>
            <a:ext cx="21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[0.54, 0.44, …, 0.26]</a:t>
            </a:r>
            <a:endParaRPr sz="1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6381050" y="3659750"/>
            <a:ext cx="21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[0.64, 0.64, …, 0.42]</a:t>
            </a:r>
            <a:endParaRPr sz="1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3" name="Google Shape;193;p26"/>
          <p:cNvCxnSpPr>
            <a:stCxn id="184" idx="3"/>
            <a:endCxn id="189" idx="1"/>
          </p:cNvCxnSpPr>
          <p:nvPr/>
        </p:nvCxnSpPr>
        <p:spPr>
          <a:xfrm flipH="1" rot="10800000">
            <a:off x="5754275" y="2181475"/>
            <a:ext cx="726000" cy="86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" name="Google Shape;194;p26"/>
          <p:cNvCxnSpPr>
            <a:stCxn id="184" idx="3"/>
            <a:endCxn id="190" idx="1"/>
          </p:cNvCxnSpPr>
          <p:nvPr/>
        </p:nvCxnSpPr>
        <p:spPr>
          <a:xfrm flipH="1" rot="10800000">
            <a:off x="5754275" y="2643175"/>
            <a:ext cx="698400" cy="39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" name="Google Shape;195;p26"/>
          <p:cNvCxnSpPr>
            <a:stCxn id="184" idx="3"/>
            <a:endCxn id="191" idx="1"/>
          </p:cNvCxnSpPr>
          <p:nvPr/>
        </p:nvCxnSpPr>
        <p:spPr>
          <a:xfrm>
            <a:off x="5754275" y="3042175"/>
            <a:ext cx="698400" cy="23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" name="Google Shape;196;p26"/>
          <p:cNvCxnSpPr>
            <a:stCxn id="184" idx="3"/>
            <a:endCxn id="192" idx="1"/>
          </p:cNvCxnSpPr>
          <p:nvPr/>
        </p:nvCxnSpPr>
        <p:spPr>
          <a:xfrm>
            <a:off x="5754275" y="3042175"/>
            <a:ext cx="626700" cy="84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2400250" y="575950"/>
            <a:ext cx="63216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Information Retrieval Strategy: Maximum Inner Product (2 / 3)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1696400" y="4736975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Lewis et al. (2020) Retrieval-Augmented Generation for Knowledge-Intensive NLP Tasks (https://arxiv.org/pdf/2005.11401)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281075" y="2625775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2931375" y="18999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Jack has an Apple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5611675" y="18999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Jill has a Ball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3413150" y="2544600"/>
            <a:ext cx="55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0.9</a:t>
            </a:r>
            <a:endParaRPr sz="18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6008375" y="2544600"/>
            <a:ext cx="55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0.4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281075" y="3504225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Jill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3413150" y="3524025"/>
            <a:ext cx="55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0.3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6008375" y="3524025"/>
            <a:ext cx="55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0.6</a:t>
            </a:r>
            <a:endParaRPr sz="18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2400250" y="575950"/>
            <a:ext cx="6321600" cy="12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Retrieval Strategy: Maximum Inner Product (3 / 3)</a:t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1696400" y="4736975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Lewis et al. (2020) Retrieval-Augmented Generation for Knowledge-Intensive NLP Tasks (https://arxiv.org/pdf/2005.11401)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7" name="Google Shape;2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413" y="2049100"/>
            <a:ext cx="5757875" cy="198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230700" y="2449600"/>
            <a:ext cx="39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Document = z</a:t>
            </a:r>
            <a:endParaRPr sz="1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Query = x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en" sz="2500"/>
              <a:t>End-To-End Training Lewis et al. (2020)</a:t>
            </a:r>
            <a:endParaRPr sz="2500"/>
          </a:p>
        </p:txBody>
      </p:sp>
      <p:sp>
        <p:nvSpPr>
          <p:cNvPr id="224" name="Google Shape;224;p29"/>
          <p:cNvSpPr txBox="1"/>
          <p:nvPr/>
        </p:nvSpPr>
        <p:spPr>
          <a:xfrm>
            <a:off x="1750675" y="47234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Lewis et al. (2020) Retrieval-Augmented Generation for Knowledge-Intensive NLP Tasks (https://arxiv.org/pdf/2005.11401)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525" y="1608025"/>
            <a:ext cx="6809649" cy="285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Are All You Need to Train a Dense Passage Retriever ( 1 / 4)</a:t>
            </a:r>
            <a:endParaRPr/>
          </a:p>
        </p:txBody>
      </p:sp>
      <p:sp>
        <p:nvSpPr>
          <p:cNvPr id="231" name="Google Shape;231;p30"/>
          <p:cNvSpPr txBox="1"/>
          <p:nvPr/>
        </p:nvSpPr>
        <p:spPr>
          <a:xfrm>
            <a:off x="2102525" y="4743725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Sachan et al. (2022) Questions Are All You Need to Train a Dense Passage Retriever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https://arxiv.org/pdf/2206.10658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3287125" y="1937275"/>
            <a:ext cx="19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Jack has an Apple</a:t>
            </a:r>
            <a:endParaRPr/>
          </a:p>
        </p:txBody>
      </p:sp>
      <p:sp>
        <p:nvSpPr>
          <p:cNvPr id="233" name="Google Shape;233;p30"/>
          <p:cNvSpPr txBox="1"/>
          <p:nvPr/>
        </p:nvSpPr>
        <p:spPr>
          <a:xfrm>
            <a:off x="3881375" y="2612475"/>
            <a:ext cx="39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0.6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396950" y="3093975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Jill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3881375" y="31137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0.3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396950" y="2592675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Jack have?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Are All You Need to Train a Dense Passage Retriever </a:t>
            </a:r>
            <a:r>
              <a:rPr lang="en"/>
              <a:t>( 2 / 4)</a:t>
            </a:r>
            <a:endParaRPr/>
          </a:p>
        </p:txBody>
      </p:sp>
      <p:sp>
        <p:nvSpPr>
          <p:cNvPr id="242" name="Google Shape;242;p31"/>
          <p:cNvSpPr txBox="1"/>
          <p:nvPr/>
        </p:nvSpPr>
        <p:spPr>
          <a:xfrm>
            <a:off x="2102525" y="4743725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Sachan et al. (2022) Questions Are All You Need to Train a Dense Passage Retriever (https://arxiv.org/pdf/2206.10658)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396950" y="3093975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Jill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3287125" y="1937275"/>
            <a:ext cx="19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Jack has an Apple</a:t>
            </a:r>
            <a:endParaRPr/>
          </a:p>
        </p:txBody>
      </p:sp>
      <p:sp>
        <p:nvSpPr>
          <p:cNvPr id="245" name="Google Shape;245;p31"/>
          <p:cNvSpPr txBox="1"/>
          <p:nvPr/>
        </p:nvSpPr>
        <p:spPr>
          <a:xfrm>
            <a:off x="3881375" y="26124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0.6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6005275" y="1937275"/>
            <a:ext cx="290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fruit does Jack have?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919550" y="26124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0.9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8" name="Google Shape;248;p31"/>
          <p:cNvCxnSpPr>
            <a:stCxn id="244" idx="3"/>
            <a:endCxn id="246" idx="1"/>
          </p:cNvCxnSpPr>
          <p:nvPr/>
        </p:nvCxnSpPr>
        <p:spPr>
          <a:xfrm>
            <a:off x="5218225" y="2168125"/>
            <a:ext cx="78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9" name="Google Shape;249;p31"/>
          <p:cNvSpPr txBox="1"/>
          <p:nvPr/>
        </p:nvSpPr>
        <p:spPr>
          <a:xfrm>
            <a:off x="5278800" y="1708350"/>
            <a:ext cx="65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LLM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396950" y="2592675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3881375" y="31137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0.3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6919550" y="31137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0.4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Are All You Need to Train a Dense Passage Retriever ( 3 / 4)</a:t>
            </a:r>
            <a:endParaRPr/>
          </a:p>
        </p:txBody>
      </p:sp>
      <p:sp>
        <p:nvSpPr>
          <p:cNvPr id="258" name="Google Shape;258;p32"/>
          <p:cNvSpPr txBox="1"/>
          <p:nvPr/>
        </p:nvSpPr>
        <p:spPr>
          <a:xfrm>
            <a:off x="2102525" y="4743725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Sachan et al. (2022) Questions Are All You Need to Train a Dense Passage Retriever (https://arxiv.org/pdf/2206.10658)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396950" y="3093975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Jill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3287125" y="1937275"/>
            <a:ext cx="19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Jack has an Apple</a:t>
            </a:r>
            <a:endParaRPr/>
          </a:p>
        </p:txBody>
      </p:sp>
      <p:sp>
        <p:nvSpPr>
          <p:cNvPr id="261" name="Google Shape;261;p32"/>
          <p:cNvSpPr txBox="1"/>
          <p:nvPr/>
        </p:nvSpPr>
        <p:spPr>
          <a:xfrm>
            <a:off x="3881375" y="26124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0.6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6005275" y="1937275"/>
            <a:ext cx="290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fruit does Jack have?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6919550" y="26124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0.9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4" name="Google Shape;264;p32"/>
          <p:cNvCxnSpPr>
            <a:stCxn id="260" idx="3"/>
            <a:endCxn id="262" idx="1"/>
          </p:cNvCxnSpPr>
          <p:nvPr/>
        </p:nvCxnSpPr>
        <p:spPr>
          <a:xfrm>
            <a:off x="5218225" y="2168125"/>
            <a:ext cx="78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5" name="Google Shape;265;p32"/>
          <p:cNvSpPr txBox="1"/>
          <p:nvPr/>
        </p:nvSpPr>
        <p:spPr>
          <a:xfrm>
            <a:off x="5278800" y="1708350"/>
            <a:ext cx="65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LLM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2"/>
          <p:cNvSpPr txBox="1"/>
          <p:nvPr>
            <p:ph idx="1" type="body"/>
          </p:nvPr>
        </p:nvSpPr>
        <p:spPr>
          <a:xfrm>
            <a:off x="396950" y="2592675"/>
            <a:ext cx="24672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7" name="Google Shape;267;p32"/>
          <p:cNvSpPr txBox="1"/>
          <p:nvPr/>
        </p:nvSpPr>
        <p:spPr>
          <a:xfrm>
            <a:off x="3881375" y="31137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0.3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6919550" y="3113775"/>
            <a:ext cx="5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0.4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3433525" y="3521725"/>
            <a:ext cx="39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But running this LLM is expensive, so we distill the knowledge back to the retriever</a:t>
            </a:r>
            <a:endParaRPr sz="18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Are All You Need to Train a Dense Passage Retriever </a:t>
            </a:r>
            <a:r>
              <a:rPr lang="en"/>
              <a:t>( 4 / 4)</a:t>
            </a:r>
            <a:endParaRPr/>
          </a:p>
        </p:txBody>
      </p:sp>
      <p:sp>
        <p:nvSpPr>
          <p:cNvPr id="275" name="Google Shape;275;p33"/>
          <p:cNvSpPr txBox="1"/>
          <p:nvPr/>
        </p:nvSpPr>
        <p:spPr>
          <a:xfrm>
            <a:off x="2102525" y="4743725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Sachan et al. (2022) Questions Are All You Need to Train a Dense Passage Retriever (https://arxiv.org/pdf/2206.10658)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5138" y="1838750"/>
            <a:ext cx="3891825" cy="260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type="title"/>
          </p:nvPr>
        </p:nvSpPr>
        <p:spPr>
          <a:xfrm>
            <a:off x="2400250" y="575950"/>
            <a:ext cx="6321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Training of Retrieval Models Using Negative Cache (1 / 3)</a:t>
            </a:r>
            <a:endParaRPr/>
          </a:p>
        </p:txBody>
      </p:sp>
      <p:sp>
        <p:nvSpPr>
          <p:cNvPr id="282" name="Google Shape;282;p3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paper from Google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Motivation: Can we keep updating the non-parametric index while training?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Useful for Google Search results as the underlying websites update as well.</a:t>
            </a:r>
            <a:endParaRPr/>
          </a:p>
        </p:txBody>
      </p:sp>
      <p:sp>
        <p:nvSpPr>
          <p:cNvPr id="283" name="Google Shape;283;p34"/>
          <p:cNvSpPr txBox="1"/>
          <p:nvPr/>
        </p:nvSpPr>
        <p:spPr>
          <a:xfrm>
            <a:off x="2422475" y="4831350"/>
            <a:ext cx="39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2116100" y="4650900"/>
            <a:ext cx="726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Lindgren et al. (2021) Efficient Training of Retrieval Models Using Negative Cache (https://patents.google.com/patent/US20230153700A1/en)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Efficient Training of Retrieval Models Using Negative Cache (2 / 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Training flow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 have a query network and a document network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Take query embedding and positive document embedding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Retain the data and embeddings from previous iterations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Search cache with perturbed maximum inner product search. This is the negative document.</a:t>
            </a:r>
            <a:endParaRPr sz="11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Get the fetched document from cache and feed it into the document network so that we can backprop with current weights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Apply loss on query embedding, positive document embedding and negative document embedding.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Randomly sample a few documents, compute their embedding and push onto the cache, removing the oldest entries.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"/>
          <p:cNvSpPr txBox="1"/>
          <p:nvPr/>
        </p:nvSpPr>
        <p:spPr>
          <a:xfrm>
            <a:off x="2116100" y="4650900"/>
            <a:ext cx="726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Lindgren et al. (2021) Efficient Training of Retrieval Models Using Negative Cache (https://patents.google.com/patent/US20230153700A1/en)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Training of Retrieval Models Using Negative Cache </a:t>
            </a:r>
            <a:r>
              <a:rPr lang="en"/>
              <a:t>(3 / 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Training flow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 have a query network and a document network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Take query embedding and positive document embedding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Retain the data and embeddings from previous iterations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Search cache with perturbed maximum inner product search. This is the negative document.</a:t>
            </a:r>
            <a:endParaRPr sz="11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Get the fetched document from cache and feed it into the document network so that we can backprop with current weights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Apply loss on query embedding, positive document embedding and negative document embedding.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Randomly sample a few documents, compute their embedding and push onto the cache, removing the oldest entries.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6"/>
          <p:cNvSpPr txBox="1"/>
          <p:nvPr/>
        </p:nvSpPr>
        <p:spPr>
          <a:xfrm>
            <a:off x="223925" y="849350"/>
            <a:ext cx="1784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Core Idea: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Entries in the dense index for MIPS generated with a previous checkpoint is analogous to just noising the current query</a:t>
            </a:r>
            <a:endParaRPr sz="18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9" name="Google Shape;2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925" y="1595774"/>
            <a:ext cx="2094226" cy="79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6"/>
          <p:cNvSpPr txBox="1"/>
          <p:nvPr/>
        </p:nvSpPr>
        <p:spPr>
          <a:xfrm>
            <a:off x="2116100" y="4650900"/>
            <a:ext cx="726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Lindgren et al. (2021) Efficient Training of Retrieval Models Using Negative Cache (https://patents.google.com/patent/US20230153700A1/en)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 language models by retrieving from trillions of tokens</a:t>
            </a:r>
            <a:endParaRPr/>
          </a:p>
        </p:txBody>
      </p:sp>
      <p:pic>
        <p:nvPicPr>
          <p:cNvPr id="306" name="Google Shape;3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650" y="1899825"/>
            <a:ext cx="5126800" cy="25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/>
        </p:nvSpPr>
        <p:spPr>
          <a:xfrm>
            <a:off x="20957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Borgeaud et al. (2021) Improving language models by retrieving from trillions of tokens (https://arxiv.org/pdf/2112.04426)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 language models by retrieving from trillions of tokens</a:t>
            </a:r>
            <a:endParaRPr/>
          </a:p>
        </p:txBody>
      </p:sp>
      <p:pic>
        <p:nvPicPr>
          <p:cNvPr id="313" name="Google Shape;3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6363" y="1716600"/>
            <a:ext cx="5489376" cy="26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8"/>
          <p:cNvSpPr txBox="1"/>
          <p:nvPr/>
        </p:nvSpPr>
        <p:spPr>
          <a:xfrm>
            <a:off x="20957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Borgeaud et al. (2021) Improving language models by retrieving from trillions of tokens (https://arxiv.org/pdf/2112.04426)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Neural Corpus Indexer for Document Retrieval</a:t>
            </a:r>
            <a:endParaRPr/>
          </a:p>
        </p:txBody>
      </p:sp>
      <p:sp>
        <p:nvSpPr>
          <p:cNvPr id="320" name="Google Shape;320;p3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All supporting documents are semantically embedded.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 </a:t>
            </a:r>
            <a:r>
              <a:rPr lang="en">
                <a:solidFill>
                  <a:schemeClr val="accent4"/>
                </a:solidFill>
              </a:rPr>
              <a:t>hierarchical</a:t>
            </a:r>
            <a:r>
              <a:rPr lang="en">
                <a:solidFill>
                  <a:schemeClr val="accent4"/>
                </a:solidFill>
              </a:rPr>
              <a:t> k-means clustering</a:t>
            </a:r>
            <a:r>
              <a:rPr lang="en"/>
              <a:t> on these embeddings.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Depending on a document's position in the k-means clustering hierarchy, generate a </a:t>
            </a:r>
            <a:r>
              <a:rPr lang="en">
                <a:solidFill>
                  <a:schemeClr val="accent4"/>
                </a:solidFill>
              </a:rPr>
              <a:t>document id </a:t>
            </a:r>
            <a:r>
              <a:rPr lang="en"/>
              <a:t>that encapsulates semantic information about the document's location in the k-means tree. E.g. </a:t>
            </a:r>
            <a:r>
              <a:rPr lang="en">
                <a:solidFill>
                  <a:schemeClr val="accent4"/>
                </a:solidFill>
              </a:rPr>
              <a:t>cluster 3, subcluster 1, sub-sub-cluster 5 becomes </a:t>
            </a:r>
            <a:r>
              <a:rPr lang="en">
                <a:solidFill>
                  <a:schemeClr val="accent4"/>
                </a:solidFill>
              </a:rPr>
              <a:t>315</a:t>
            </a:r>
            <a:endParaRPr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Train a LLM to </a:t>
            </a:r>
            <a:r>
              <a:rPr lang="en">
                <a:solidFill>
                  <a:schemeClr val="accent4"/>
                </a:solidFill>
              </a:rPr>
              <a:t>regurgitate </a:t>
            </a:r>
            <a:r>
              <a:rPr lang="en"/>
              <a:t>the doc_id given a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"/>
          <p:cNvSpPr txBox="1"/>
          <p:nvPr/>
        </p:nvSpPr>
        <p:spPr>
          <a:xfrm>
            <a:off x="24002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Wang et al. (2022b) A Neural Corpus Indexer for Document Retrieval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https://arxiv.org/abs/2206.02743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2410100" y="1595776"/>
            <a:ext cx="6321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Context Learning (ICL)</a:t>
            </a:r>
            <a:endParaRPr/>
          </a:p>
        </p:txBody>
      </p:sp>
      <p:sp>
        <p:nvSpPr>
          <p:cNvPr id="328" name="Google Shape;328;p40"/>
          <p:cNvSpPr txBox="1"/>
          <p:nvPr>
            <p:ph idx="1" type="body"/>
          </p:nvPr>
        </p:nvSpPr>
        <p:spPr>
          <a:xfrm>
            <a:off x="2410100" y="2307751"/>
            <a:ext cx="6321600" cy="52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Retrieval Augmented Generation (RAG)</a:t>
            </a:r>
            <a:endParaRPr/>
          </a:p>
        </p:txBody>
      </p:sp>
      <p:sp>
        <p:nvSpPr>
          <p:cNvPr id="329" name="Google Shape;329;p40"/>
          <p:cNvSpPr txBox="1"/>
          <p:nvPr>
            <p:ph idx="1" type="body"/>
          </p:nvPr>
        </p:nvSpPr>
        <p:spPr>
          <a:xfrm>
            <a:off x="2410100" y="3131926"/>
            <a:ext cx="6321600" cy="528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Subset Selection in LLMs with RAG and ICL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Idea of Subset Selection</a:t>
            </a:r>
            <a:endParaRPr/>
          </a:p>
        </p:txBody>
      </p:sp>
      <p:sp>
        <p:nvSpPr>
          <p:cNvPr id="335" name="Google Shape;335;p41"/>
          <p:cNvSpPr txBox="1"/>
          <p:nvPr>
            <p:ph idx="1" type="body"/>
          </p:nvPr>
        </p:nvSpPr>
        <p:spPr>
          <a:xfrm>
            <a:off x="3271875" y="2306275"/>
            <a:ext cx="16275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likes Bob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36" name="Google Shape;336;p41"/>
          <p:cNvSpPr txBox="1"/>
          <p:nvPr>
            <p:ph idx="1" type="body"/>
          </p:nvPr>
        </p:nvSpPr>
        <p:spPr>
          <a:xfrm>
            <a:off x="2303175" y="1211338"/>
            <a:ext cx="35649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7" name="Google Shape;337;p41"/>
          <p:cNvSpPr txBox="1"/>
          <p:nvPr>
            <p:ph idx="1" type="body"/>
          </p:nvPr>
        </p:nvSpPr>
        <p:spPr>
          <a:xfrm>
            <a:off x="6656700" y="2087125"/>
            <a:ext cx="2010600" cy="17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Knowledge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Context: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Answer: </a:t>
            </a:r>
            <a:r>
              <a:rPr lang="en">
                <a:solidFill>
                  <a:schemeClr val="accent4"/>
                </a:solidFill>
              </a:rPr>
              <a:t>Apple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338" name="Google Shape;338;p41"/>
          <p:cNvCxnSpPr>
            <a:stCxn id="336" idx="2"/>
            <a:endCxn id="335" idx="0"/>
          </p:cNvCxnSpPr>
          <p:nvPr/>
        </p:nvCxnSpPr>
        <p:spPr>
          <a:xfrm>
            <a:off x="4085625" y="1712638"/>
            <a:ext cx="0" cy="5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9" name="Google Shape;339;p41"/>
          <p:cNvCxnSpPr/>
          <p:nvPr/>
        </p:nvCxnSpPr>
        <p:spPr>
          <a:xfrm>
            <a:off x="4899325" y="2984275"/>
            <a:ext cx="12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0" name="Google Shape;340;p41"/>
          <p:cNvSpPr txBox="1"/>
          <p:nvPr/>
        </p:nvSpPr>
        <p:spPr>
          <a:xfrm>
            <a:off x="2184975" y="1743825"/>
            <a:ext cx="194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Information Retrieval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41"/>
          <p:cNvSpPr txBox="1"/>
          <p:nvPr/>
        </p:nvSpPr>
        <p:spPr>
          <a:xfrm>
            <a:off x="4770175" y="2202300"/>
            <a:ext cx="172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Data Incorporation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" name="Google Shape;342;p41"/>
          <p:cNvSpPr txBox="1"/>
          <p:nvPr>
            <p:ph idx="1" type="body"/>
          </p:nvPr>
        </p:nvSpPr>
        <p:spPr>
          <a:xfrm>
            <a:off x="458525" y="2306275"/>
            <a:ext cx="16275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Jill has a Ball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Bob has a Banana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likes Bob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43" name="Google Shape;343;p41"/>
          <p:cNvCxnSpPr>
            <a:stCxn id="342" idx="3"/>
            <a:endCxn id="335" idx="1"/>
          </p:cNvCxnSpPr>
          <p:nvPr/>
        </p:nvCxnSpPr>
        <p:spPr>
          <a:xfrm>
            <a:off x="2086025" y="2984275"/>
            <a:ext cx="118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4" name="Google Shape;344;p41"/>
          <p:cNvSpPr txBox="1"/>
          <p:nvPr/>
        </p:nvSpPr>
        <p:spPr>
          <a:xfrm>
            <a:off x="1859250" y="2467300"/>
            <a:ext cx="190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Subset-selection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Idea of Subset Selection</a:t>
            </a:r>
            <a:endParaRPr/>
          </a:p>
        </p:txBody>
      </p:sp>
      <p:sp>
        <p:nvSpPr>
          <p:cNvPr id="350" name="Google Shape;350;p42"/>
          <p:cNvSpPr txBox="1"/>
          <p:nvPr>
            <p:ph idx="1" type="body"/>
          </p:nvPr>
        </p:nvSpPr>
        <p:spPr>
          <a:xfrm>
            <a:off x="3271875" y="2306275"/>
            <a:ext cx="16275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likes Bob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2303175" y="1211338"/>
            <a:ext cx="35649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52" name="Google Shape;352;p42"/>
          <p:cNvSpPr txBox="1"/>
          <p:nvPr>
            <p:ph idx="1" type="body"/>
          </p:nvPr>
        </p:nvSpPr>
        <p:spPr>
          <a:xfrm>
            <a:off x="6656700" y="2087125"/>
            <a:ext cx="2010600" cy="17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Knowledge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Context: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Answer: </a:t>
            </a:r>
            <a:r>
              <a:rPr lang="en">
                <a:solidFill>
                  <a:schemeClr val="accent4"/>
                </a:solidFill>
              </a:rPr>
              <a:t>Apple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353" name="Google Shape;353;p42"/>
          <p:cNvCxnSpPr>
            <a:stCxn id="351" idx="2"/>
            <a:endCxn id="350" idx="0"/>
          </p:cNvCxnSpPr>
          <p:nvPr/>
        </p:nvCxnSpPr>
        <p:spPr>
          <a:xfrm>
            <a:off x="4085625" y="1712638"/>
            <a:ext cx="0" cy="5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4" name="Google Shape;354;p42"/>
          <p:cNvCxnSpPr/>
          <p:nvPr/>
        </p:nvCxnSpPr>
        <p:spPr>
          <a:xfrm>
            <a:off x="4899325" y="2984275"/>
            <a:ext cx="12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5" name="Google Shape;355;p42"/>
          <p:cNvSpPr txBox="1"/>
          <p:nvPr/>
        </p:nvSpPr>
        <p:spPr>
          <a:xfrm>
            <a:off x="2184975" y="1743825"/>
            <a:ext cx="194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Information Retrieval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" name="Google Shape;356;p42"/>
          <p:cNvSpPr txBox="1"/>
          <p:nvPr/>
        </p:nvSpPr>
        <p:spPr>
          <a:xfrm>
            <a:off x="4770175" y="2202300"/>
            <a:ext cx="172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Incorporation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7" name="Google Shape;357;p42"/>
          <p:cNvSpPr txBox="1"/>
          <p:nvPr>
            <p:ph idx="1" type="body"/>
          </p:nvPr>
        </p:nvSpPr>
        <p:spPr>
          <a:xfrm>
            <a:off x="458525" y="2306275"/>
            <a:ext cx="16275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has an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Jill has a Ball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Bob has a Banana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Jack likes Bob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58" name="Google Shape;358;p42"/>
          <p:cNvCxnSpPr>
            <a:stCxn id="357" idx="3"/>
            <a:endCxn id="350" idx="1"/>
          </p:cNvCxnSpPr>
          <p:nvPr/>
        </p:nvCxnSpPr>
        <p:spPr>
          <a:xfrm>
            <a:off x="2086025" y="2984275"/>
            <a:ext cx="118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9" name="Google Shape;359;p42"/>
          <p:cNvSpPr txBox="1"/>
          <p:nvPr/>
        </p:nvSpPr>
        <p:spPr>
          <a:xfrm>
            <a:off x="1859250" y="2467300"/>
            <a:ext cx="190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Subset-selection</a:t>
            </a:r>
            <a:endParaRPr sz="13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Idea of Subset Selection</a:t>
            </a:r>
            <a:endParaRPr/>
          </a:p>
        </p:txBody>
      </p:sp>
      <p:sp>
        <p:nvSpPr>
          <p:cNvPr id="365" name="Google Shape;365;p43"/>
          <p:cNvSpPr txBox="1"/>
          <p:nvPr>
            <p:ph idx="1" type="body"/>
          </p:nvPr>
        </p:nvSpPr>
        <p:spPr>
          <a:xfrm>
            <a:off x="3271875" y="2306275"/>
            <a:ext cx="16275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Question: What does Jack have?</a:t>
            </a:r>
            <a:br>
              <a:rPr lang="en">
                <a:solidFill>
                  <a:srgbClr val="FF0000"/>
                </a:solidFill>
              </a:rPr>
            </a:br>
            <a:r>
              <a:rPr lang="en">
                <a:solidFill>
                  <a:srgbClr val="FF0000"/>
                </a:solidFill>
              </a:rPr>
              <a:t>Answer: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Question: Who does Jack like?</a:t>
            </a:r>
            <a:br>
              <a:rPr lang="en">
                <a:solidFill>
                  <a:srgbClr val="FF0000"/>
                </a:solidFill>
              </a:rPr>
            </a:br>
            <a:r>
              <a:rPr lang="en">
                <a:solidFill>
                  <a:srgbClr val="FF0000"/>
                </a:solidFill>
              </a:rPr>
              <a:t>Answer: Bob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66" name="Google Shape;366;p43"/>
          <p:cNvSpPr txBox="1"/>
          <p:nvPr>
            <p:ph idx="1" type="body"/>
          </p:nvPr>
        </p:nvSpPr>
        <p:spPr>
          <a:xfrm>
            <a:off x="2303175" y="1211338"/>
            <a:ext cx="35649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67" name="Google Shape;367;p43"/>
          <p:cNvSpPr txBox="1"/>
          <p:nvPr>
            <p:ph idx="1" type="body"/>
          </p:nvPr>
        </p:nvSpPr>
        <p:spPr>
          <a:xfrm>
            <a:off x="6656700" y="2087125"/>
            <a:ext cx="2010600" cy="17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Knowledge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Question: What does Jack have?</a:t>
            </a:r>
            <a:br>
              <a:rPr lang="en">
                <a:solidFill>
                  <a:srgbClr val="FF0000"/>
                </a:solidFill>
              </a:rPr>
            </a:br>
            <a:r>
              <a:rPr lang="en">
                <a:solidFill>
                  <a:srgbClr val="FF0000"/>
                </a:solidFill>
              </a:rPr>
              <a:t>Answer: Apple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Question: What does Jack have?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Answer: </a:t>
            </a:r>
            <a:r>
              <a:rPr lang="en">
                <a:solidFill>
                  <a:schemeClr val="accent4"/>
                </a:solidFill>
              </a:rPr>
              <a:t>Apple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368" name="Google Shape;368;p43"/>
          <p:cNvCxnSpPr>
            <a:stCxn id="366" idx="2"/>
            <a:endCxn id="365" idx="0"/>
          </p:cNvCxnSpPr>
          <p:nvPr/>
        </p:nvCxnSpPr>
        <p:spPr>
          <a:xfrm>
            <a:off x="4085625" y="1712638"/>
            <a:ext cx="0" cy="5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9" name="Google Shape;369;p43"/>
          <p:cNvCxnSpPr/>
          <p:nvPr/>
        </p:nvCxnSpPr>
        <p:spPr>
          <a:xfrm>
            <a:off x="4899325" y="2984275"/>
            <a:ext cx="12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0" name="Google Shape;370;p43"/>
          <p:cNvSpPr txBox="1"/>
          <p:nvPr/>
        </p:nvSpPr>
        <p:spPr>
          <a:xfrm>
            <a:off x="2184975" y="1743825"/>
            <a:ext cx="194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Information Retrieval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43"/>
          <p:cNvSpPr txBox="1"/>
          <p:nvPr/>
        </p:nvSpPr>
        <p:spPr>
          <a:xfrm>
            <a:off x="4770175" y="2202300"/>
            <a:ext cx="172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Data Incorporation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" name="Google Shape;372;p43"/>
          <p:cNvSpPr txBox="1"/>
          <p:nvPr>
            <p:ph idx="1" type="body"/>
          </p:nvPr>
        </p:nvSpPr>
        <p:spPr>
          <a:xfrm>
            <a:off x="0" y="2087125"/>
            <a:ext cx="2041500" cy="17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Question: What does Jack have?</a:t>
            </a:r>
            <a:br>
              <a:rPr lang="en">
                <a:solidFill>
                  <a:srgbClr val="FF0000"/>
                </a:solidFill>
              </a:rPr>
            </a:br>
            <a:r>
              <a:rPr lang="en">
                <a:solidFill>
                  <a:srgbClr val="FF0000"/>
                </a:solidFill>
              </a:rPr>
              <a:t>Answer: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Question: Which fruit does Jack like?</a:t>
            </a:r>
            <a:br>
              <a:rPr lang="en">
                <a:solidFill>
                  <a:srgbClr val="FF0000"/>
                </a:solidFill>
              </a:rPr>
            </a:br>
            <a:r>
              <a:rPr lang="en">
                <a:solidFill>
                  <a:srgbClr val="FF0000"/>
                </a:solidFill>
              </a:rPr>
              <a:t>Answer: Apple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Question: Who does Jack like?</a:t>
            </a:r>
            <a:br>
              <a:rPr lang="en">
                <a:solidFill>
                  <a:srgbClr val="FF0000"/>
                </a:solidFill>
              </a:rPr>
            </a:br>
            <a:r>
              <a:rPr lang="en">
                <a:solidFill>
                  <a:srgbClr val="FF0000"/>
                </a:solidFill>
              </a:rPr>
              <a:t>Answer: Bob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73" name="Google Shape;373;p43"/>
          <p:cNvCxnSpPr>
            <a:stCxn id="372" idx="3"/>
            <a:endCxn id="365" idx="1"/>
          </p:cNvCxnSpPr>
          <p:nvPr/>
        </p:nvCxnSpPr>
        <p:spPr>
          <a:xfrm>
            <a:off x="2041500" y="2984275"/>
            <a:ext cx="123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4" name="Google Shape;374;p43"/>
          <p:cNvSpPr txBox="1"/>
          <p:nvPr/>
        </p:nvSpPr>
        <p:spPr>
          <a:xfrm>
            <a:off x="1859250" y="2467300"/>
            <a:ext cx="190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Subset-selection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"/>
          <p:cNvSpPr txBox="1"/>
          <p:nvPr>
            <p:ph type="title"/>
          </p:nvPr>
        </p:nvSpPr>
        <p:spPr>
          <a:xfrm>
            <a:off x="2407050" y="238770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a document good?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Perplexity of the generative model</a:t>
            </a:r>
            <a:endParaRPr/>
          </a:p>
        </p:txBody>
      </p:sp>
      <p:sp>
        <p:nvSpPr>
          <p:cNvPr id="385" name="Google Shape;385;p45"/>
          <p:cNvSpPr txBox="1"/>
          <p:nvPr>
            <p:ph idx="1" type="body"/>
          </p:nvPr>
        </p:nvSpPr>
        <p:spPr>
          <a:xfrm>
            <a:off x="2410100" y="1595774"/>
            <a:ext cx="6321600" cy="15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simplest approach is random sample and test.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pick the 1-shots which give the best accuracy over the dataset.</a:t>
            </a:r>
            <a:endParaRPr/>
          </a:p>
        </p:txBody>
      </p:sp>
      <p:pic>
        <p:nvPicPr>
          <p:cNvPr id="386" name="Google Shape;386;p45" title="Screenshot 2025-03-10 1827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038" y="3273826"/>
            <a:ext cx="54197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5"/>
          <p:cNvSpPr txBox="1"/>
          <p:nvPr/>
        </p:nvSpPr>
        <p:spPr>
          <a:xfrm>
            <a:off x="24002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 et al. (2021) MetaICL: Learning to Learn In Context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https://arxiv.org/pdf/2110.15943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To Retrieve Prompts for In-Context Learning</a:t>
            </a:r>
            <a:endParaRPr/>
          </a:p>
        </p:txBody>
      </p:sp>
      <p:sp>
        <p:nvSpPr>
          <p:cNvPr id="393" name="Google Shape;393;p46"/>
          <p:cNvSpPr txBox="1"/>
          <p:nvPr/>
        </p:nvSpPr>
        <p:spPr>
          <a:xfrm>
            <a:off x="24002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Rubin et al. (2021) Learning To Retrieve Prompts for In-Context Learning (https://arxiv.org/abs/2112.08633)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4" name="Google Shape;39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3463" y="1646100"/>
            <a:ext cx="5895174" cy="282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6" title="Screenshot 2025-03-11 1837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2669825"/>
            <a:ext cx="3264201" cy="98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Self-Adaptive In-Context Learning: An Information Compression Perspective for In-Context Example Selection and Ordering</a:t>
            </a:r>
            <a:endParaRPr/>
          </a:p>
        </p:txBody>
      </p:sp>
      <p:sp>
        <p:nvSpPr>
          <p:cNvPr id="401" name="Google Shape;401;p47"/>
          <p:cNvSpPr txBox="1"/>
          <p:nvPr/>
        </p:nvSpPr>
        <p:spPr>
          <a:xfrm>
            <a:off x="2400250" y="4745900"/>
            <a:ext cx="726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Wu et al. (2022) Self-Adaptive In-Context Learning: An Information Compression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Perspective for In-Context Example Selection and Ordering (https://arxiv.org/abs/2212.10375)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2" name="Google Shape;402;p47" title="Screenshot 2025-03-11 1758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050" y="2259450"/>
            <a:ext cx="5296450" cy="18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"/>
          <p:cNvSpPr txBox="1"/>
          <p:nvPr>
            <p:ph type="title"/>
          </p:nvPr>
        </p:nvSpPr>
        <p:spPr>
          <a:xfrm>
            <a:off x="2400250" y="575950"/>
            <a:ext cx="6321600" cy="13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Support Examples for In-Context Learning (1 / 2)</a:t>
            </a:r>
            <a:endParaRPr/>
          </a:p>
        </p:txBody>
      </p:sp>
      <p:sp>
        <p:nvSpPr>
          <p:cNvPr id="408" name="Google Shape;408;p48"/>
          <p:cNvSpPr txBox="1"/>
          <p:nvPr/>
        </p:nvSpPr>
        <p:spPr>
          <a:xfrm>
            <a:off x="24002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 and Qiu (2023) Finding Support Examples for In-Context Learning (https://arxiv.org/pdf/2302.13539)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9" name="Google Shape;409;p48" title="infoscore_calcu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0675" y="2571750"/>
            <a:ext cx="5160750" cy="14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"/>
          <p:cNvSpPr txBox="1"/>
          <p:nvPr>
            <p:ph type="title"/>
          </p:nvPr>
        </p:nvSpPr>
        <p:spPr>
          <a:xfrm>
            <a:off x="2400250" y="575950"/>
            <a:ext cx="6321600" cy="13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Support Examples for In-Context Learning (2 / 2)</a:t>
            </a:r>
            <a:endParaRPr/>
          </a:p>
        </p:txBody>
      </p:sp>
      <p:sp>
        <p:nvSpPr>
          <p:cNvPr id="415" name="Google Shape;415;p49"/>
          <p:cNvSpPr txBox="1"/>
          <p:nvPr/>
        </p:nvSpPr>
        <p:spPr>
          <a:xfrm>
            <a:off x="24002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 and Qiu (2023) Finding Support Examples for In-Context Learning (https://arxiv.org/pdf/2302.13539)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6" name="Google Shape;416;p49" title="quality_divers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4413" y="2024950"/>
            <a:ext cx="5193268" cy="25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0"/>
          <p:cNvSpPr txBox="1"/>
          <p:nvPr>
            <p:ph type="title"/>
          </p:nvPr>
        </p:nvSpPr>
        <p:spPr>
          <a:xfrm>
            <a:off x="2400250" y="575950"/>
            <a:ext cx="6321600" cy="9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Active Example Selection for In-Context Learning</a:t>
            </a:r>
            <a:endParaRPr/>
          </a:p>
        </p:txBody>
      </p:sp>
      <p:sp>
        <p:nvSpPr>
          <p:cNvPr id="422" name="Google Shape;422;p50"/>
          <p:cNvSpPr txBox="1"/>
          <p:nvPr/>
        </p:nvSpPr>
        <p:spPr>
          <a:xfrm>
            <a:off x="2400250" y="4745900"/>
            <a:ext cx="61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Zhang et al. (2022) Active Example Selection for In-Context Learning (https://arxiv.org/abs/2211.04486)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3" name="Google Shape;423;p50" title="Screenshot 2025-03-11 1813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047" y="1723375"/>
            <a:ext cx="4246000" cy="180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0" title="Screenshot 2025-03-11 1813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363" y="3749500"/>
            <a:ext cx="5633380" cy="91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/>
          <p:nvPr/>
        </p:nvSpPr>
        <p:spPr>
          <a:xfrm>
            <a:off x="0" y="970350"/>
            <a:ext cx="2191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Randomly select few shots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Incrementally add them and evaluate the model.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Record the confidence of correct answer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Few shot + prompt is state, next shot to select is action and confidence is reward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Compositional Exemplars for In-context Learning (1 / 2)</a:t>
            </a:r>
            <a:endParaRPr/>
          </a:p>
        </p:txBody>
      </p:sp>
      <p:sp>
        <p:nvSpPr>
          <p:cNvPr id="431" name="Google Shape;431;p51"/>
          <p:cNvSpPr txBox="1"/>
          <p:nvPr/>
        </p:nvSpPr>
        <p:spPr>
          <a:xfrm>
            <a:off x="2400250" y="4745900"/>
            <a:ext cx="61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Ye et al. (2023) Compositional Exemplars for In-context Learning (https://arxiv.org/abs/2302.05698)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2" name="Google Shape;432;p51" title="unnam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413" y="1703025"/>
            <a:ext cx="5629275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Compositional Exemplars for In-context Learning ( 2 / 2 )</a:t>
            </a:r>
            <a:endParaRPr/>
          </a:p>
        </p:txBody>
      </p:sp>
      <p:sp>
        <p:nvSpPr>
          <p:cNvPr id="438" name="Google Shape;438;p52"/>
          <p:cNvSpPr txBox="1"/>
          <p:nvPr/>
        </p:nvSpPr>
        <p:spPr>
          <a:xfrm>
            <a:off x="2400250" y="4745900"/>
            <a:ext cx="61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Ye et al. (2023) Compositional Exemplars for In-context Learning (https://arxiv.org/abs/2302.05698)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52"/>
          <p:cNvSpPr txBox="1"/>
          <p:nvPr/>
        </p:nvSpPr>
        <p:spPr>
          <a:xfrm>
            <a:off x="2048338" y="2978900"/>
            <a:ext cx="6867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-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 loss</a:t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-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 from last slide</a:t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-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S+ is 1-shot which gave high likelihood of correct answer</a:t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-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S-  is 1-shot which gave low likelihood of correct answer</a:t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" name="Google Shape;440;p52"/>
          <p:cNvSpPr txBox="1"/>
          <p:nvPr/>
        </p:nvSpPr>
        <p:spPr>
          <a:xfrm>
            <a:off x="0" y="725825"/>
            <a:ext cx="2025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AutoNum type="arabicPeriod"/>
            </a:pPr>
            <a:r>
              <a:rPr lang="en" sz="1000">
                <a:solidFill>
                  <a:schemeClr val="dk2"/>
                </a:solidFill>
              </a:rPr>
              <a:t>For an incoming question, create an embedding. Find n most similar documents from the database N.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AutoNum type="arabicPeriod"/>
            </a:pPr>
            <a:r>
              <a:rPr lang="en" sz="1000">
                <a:solidFill>
                  <a:schemeClr val="dk2"/>
                </a:solidFill>
              </a:rPr>
              <a:t>Take each document and question and check the likelihood of answering the question using a generating LLM.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AutoNum type="arabicPeriod"/>
            </a:pPr>
            <a:r>
              <a:rPr lang="en" sz="1000">
                <a:solidFill>
                  <a:schemeClr val="dk2"/>
                </a:solidFill>
              </a:rPr>
              <a:t>Sort the documents by this score and divide into two parts. S+ and S-. S+ being highest scoring half and S- being lowest scoring half.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AutoNum type="arabicPeriod"/>
            </a:pPr>
            <a:r>
              <a:rPr lang="en" sz="1000">
                <a:solidFill>
                  <a:schemeClr val="dk2"/>
                </a:solidFill>
              </a:rPr>
              <a:t>Use the contrastive loss to train the embedding model. It enforces both quality and diversity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1" name="Google Shape;441;p52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450" y="1936125"/>
            <a:ext cx="39909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Selective Annotation Makes Language Models Better Few Shot Learners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3"/>
          <p:cNvSpPr txBox="1"/>
          <p:nvPr/>
        </p:nvSpPr>
        <p:spPr>
          <a:xfrm>
            <a:off x="24002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 et al. (2022) Selective Annotation Makes Language Models Better Few Shot Learners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8" name="Google Shape;4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825" y="1950525"/>
            <a:ext cx="3634450" cy="269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3"/>
          <p:cNvSpPr txBox="1"/>
          <p:nvPr/>
        </p:nvSpPr>
        <p:spPr>
          <a:xfrm>
            <a:off x="461425" y="1956700"/>
            <a:ext cx="2938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Keep a counter of how many times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document was helpful.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Each supporting document casts a vote, the more votes it casts, the less its strength of voting. Exponential decay.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Representative Demonstration Selection for In-Context Learning with Two-Stage Determinantal Point Process</a:t>
            </a:r>
            <a:endParaRPr/>
          </a:p>
        </p:txBody>
      </p:sp>
      <p:sp>
        <p:nvSpPr>
          <p:cNvPr id="455" name="Google Shape;455;p54"/>
          <p:cNvSpPr txBox="1"/>
          <p:nvPr/>
        </p:nvSpPr>
        <p:spPr>
          <a:xfrm>
            <a:off x="2400250" y="4745900"/>
            <a:ext cx="616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Yang et al. (2023) Representative Demonstration Selection for In-Context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Learning with Two-Stage Determinantal Point Process (https://aclanthology.org/2023.emnlp-main.331/)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6" name="Google Shape;45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600" y="1733350"/>
            <a:ext cx="64389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913" y="4065201"/>
            <a:ext cx="3603175" cy="5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075" y="1778975"/>
            <a:ext cx="24193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378600"/>
            <a:ext cx="34861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2075" y="2551225"/>
            <a:ext cx="1800258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4" title="Screenshot 2025-03-24 20134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00" y="4024425"/>
            <a:ext cx="2956578" cy="27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4" title="2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750" y="4385163"/>
            <a:ext cx="3123873" cy="27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ct val="47826"/>
              <a:buFont typeface="Aria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IDEAL: Influence-Driven Selective Annotations Empower In-Context Learners in Large Language Models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5"/>
          <p:cNvSpPr txBox="1"/>
          <p:nvPr/>
        </p:nvSpPr>
        <p:spPr>
          <a:xfrm>
            <a:off x="2400250" y="4745900"/>
            <a:ext cx="664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Zhang et al. (2023) IDEAL: Influence-Driven Selective Annotations Empower In-Context Learners in Large Language Models (https://arxiv.org/abs/2310.10873)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9" name="Google Shape;469;p55"/>
          <p:cNvSpPr txBox="1"/>
          <p:nvPr/>
        </p:nvSpPr>
        <p:spPr>
          <a:xfrm>
            <a:off x="2503900" y="2140600"/>
            <a:ext cx="6381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Compute </a:t>
            </a:r>
            <a:r>
              <a:rPr lang="en" sz="18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all to all similarity matrix</a:t>
            </a:r>
            <a:endParaRPr sz="18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Start with a </a:t>
            </a:r>
            <a:r>
              <a:rPr lang="en" sz="18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seed set</a:t>
            </a:r>
            <a:endParaRPr sz="18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 each item in seed set pick the </a:t>
            </a:r>
            <a:r>
              <a:rPr lang="en" sz="18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top K most similar items</a:t>
            </a:r>
            <a:endParaRPr sz="18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Add these </a:t>
            </a:r>
            <a:r>
              <a:rPr lang="en" sz="18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back into the seed set with probability </a:t>
            </a: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inversely proportional to their similarity with the seed set (uniform random)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Continue until desired size</a:t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Via Proxy: Efficient Data Selection For Deep Learning</a:t>
            </a:r>
            <a:endParaRPr/>
          </a:p>
        </p:txBody>
      </p:sp>
      <p:sp>
        <p:nvSpPr>
          <p:cNvPr id="475" name="Google Shape;475;p56"/>
          <p:cNvSpPr txBox="1"/>
          <p:nvPr>
            <p:ph idx="1" type="body"/>
          </p:nvPr>
        </p:nvSpPr>
        <p:spPr>
          <a:xfrm>
            <a:off x="2410100" y="1595771"/>
            <a:ext cx="63216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Least Confidence</a:t>
            </a:r>
            <a:r>
              <a:rPr lang="en"/>
              <a:t>: Pick the hardest examples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Train</a:t>
            </a:r>
            <a:r>
              <a:rPr lang="en"/>
              <a:t> a </a:t>
            </a:r>
            <a:r>
              <a:rPr lang="en">
                <a:solidFill>
                  <a:schemeClr val="accent4"/>
                </a:solidFill>
              </a:rPr>
              <a:t>proxy model</a:t>
            </a:r>
            <a:r>
              <a:rPr lang="en"/>
              <a:t> (smaller, faster) on the whole dataset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Use this proxy to rank/score all samples based on specific criteria: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61111"/>
              <a:buFont typeface="Arial"/>
              <a:buChar char="●"/>
            </a:pPr>
            <a:r>
              <a:rPr lang="en">
                <a:solidFill>
                  <a:schemeClr val="accent4"/>
                </a:solidFill>
              </a:rPr>
              <a:t>Forgetting events</a:t>
            </a:r>
            <a:r>
              <a:rPr lang="en"/>
              <a:t> (how many times they flip from correct→incorrect during training)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61111"/>
              <a:buFont typeface="Arial"/>
              <a:buChar char="●"/>
            </a:pPr>
            <a:r>
              <a:rPr lang="en">
                <a:solidFill>
                  <a:schemeClr val="accent4"/>
                </a:solidFill>
              </a:rPr>
              <a:t>Uncertainty/entropy measures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Select a subset of samples based on these scores (often the most "informative" samples)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6"/>
          <p:cNvSpPr txBox="1"/>
          <p:nvPr/>
        </p:nvSpPr>
        <p:spPr>
          <a:xfrm>
            <a:off x="2400250" y="4745900"/>
            <a:ext cx="726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Coleman et al. (2019) Selection Via Proxy: Efficient Data Selection For Deep Learning (https://arxiv.org/abs/1906.11829)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(1 / 4)</a:t>
            </a:r>
            <a:endParaRPr/>
          </a:p>
        </p:txBody>
      </p:sp>
      <p:sp>
        <p:nvSpPr>
          <p:cNvPr id="482" name="Google Shape;482;p5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Brown et al. (2020) Language Models are Few-Shot Learners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 et al. (2022b) Chain of Thought Prompting Elicits Reasoning in Large Language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Wang et al. (2022a) Self-Consistency Improves Chain of Thought Reasoning in Language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 et al. (2022) Rethinking the Role of Demonstrations: What Makes In-Context Learning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 et al. (2022a) Emergent Abilities of Large Language Models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</a:t>
            </a:r>
            <a:r>
              <a:rPr lang="en"/>
              <a:t>(2 / 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Lewis et al. (2020) Retrieval-Augmented Generation for Knowledge-Intensive NLP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Sachan et al. (2022) Questions Are All You Need to Train a Dense Passage Retriever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Lindgren et al. (2021) Efficient Training of Retrieval Models Using Negative Cache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Borgeaud et al. (2021) Improving language models by retrieving from trillions of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Wang et al. (2022b) A Neural Corpus Indexer for Document Retrieval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</a:t>
            </a:r>
            <a:r>
              <a:rPr lang="en"/>
              <a:t>(3 / 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 et al. (2021) MetaICL: Learning to Learn In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Coleman et al. (2019) Selection Via Proxy: Efficient Data Selection For Deep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 and Qiu (2023) Finding Support Examples for In-Context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Wu et al. (2022) Self-Adaptive In-Context Learning: An Information Compression Perspective for In-Context Example Selection and Ordering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Zhang et al. (2022) Active Example Selection for In-Context Learning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</a:t>
            </a:r>
            <a:r>
              <a:rPr lang="en"/>
              <a:t>(4 / 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Ye et al. (2023) Compositional Exemplars for In-context Learning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Yang et al. (2023) Representative Demonstration Selection for In-Context Learning with Two-Stage Determinantal Point Process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Rubin et al. (2021) Learning To Retrieve Prompts for In-Context Learning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Zhang et al. (2023) IDEAL: Influence-Driven Selective Annotations Empower In-Context Learners in Large Language Models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 et al. (2022) Selective Annotation Makes Language Models Better FewShot Learners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